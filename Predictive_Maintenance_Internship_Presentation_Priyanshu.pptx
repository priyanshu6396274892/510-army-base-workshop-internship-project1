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6DAD7"/>
                </a:solidFill>
                <a:latin typeface="Aptos"/>
              </a:defRPr>
            </a:pPr>
            <a:r>
              <a:t>VOCATIONAL TRAINING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698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Predictive Maintenance</a:t>
            </a:r>
            <a:br/>
            <a:r>
              <a:t>using Machine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6E0EE"/>
                </a:solidFill>
                <a:latin typeface="Aptos"/>
              </a:defRPr>
            </a:pPr>
            <a:r>
              <a:t>Real-time telemetry • MQTT pipeline • SQLite persistence • RUL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3291840" cy="1234440"/>
          </a:xfrm>
          <a:prstGeom prst="roundRect">
            <a:avLst/>
          </a:prstGeom>
          <a:solidFill>
            <a:srgbClr val="1C355B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794760"/>
            <a:ext cx="73152" cy="123444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3959352"/>
            <a:ext cx="2926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4389120"/>
            <a:ext cx="29260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510 Army Base Workshop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Meerut Cantt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3794760"/>
            <a:ext cx="3291840" cy="1234440"/>
          </a:xfrm>
          <a:prstGeom prst="roundRect">
            <a:avLst/>
          </a:prstGeom>
          <a:solidFill>
            <a:srgbClr val="1C355B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7952" y="3794760"/>
            <a:ext cx="73152" cy="1234440"/>
          </a:xfrm>
          <a:prstGeom prst="rect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3959352"/>
            <a:ext cx="2926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Training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4389120"/>
            <a:ext cx="292608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1 July 2026 – 28 July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3794760"/>
            <a:ext cx="3566160" cy="1234440"/>
          </a:xfrm>
          <a:prstGeom prst="roundRect">
            <a:avLst/>
          </a:prstGeom>
          <a:solidFill>
            <a:srgbClr val="1C355B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62672" y="3794760"/>
            <a:ext cx="73152" cy="1234440"/>
          </a:xfrm>
          <a:prstGeom prst="rect">
            <a:avLst/>
          </a:prstGeom>
          <a:solidFill>
            <a:srgbClr val="E0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3867740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Submitted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4146745"/>
            <a:ext cx="3200400" cy="1054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50" b="0">
                <a:solidFill>
                  <a:srgbClr val="232A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Nandini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A3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Priyanshu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A3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Suhani Goel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A3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Vinit Kumar</a:t>
            </a:r>
            <a:br>
              <a:rPr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8D2E2"/>
                </a:solidFill>
                <a:latin typeface="Aptos"/>
              </a:defRPr>
            </a:pPr>
            <a:r>
              <a:t>Submitted to: COL G S PHANI RAJ (OIC TT CELL)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3620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0B0C6"/>
                </a:solidFill>
                <a:latin typeface="Aptos"/>
              </a:defRPr>
            </a:pPr>
            <a:r>
              <a:t>Project Report basis: Predictive Maintenance using machine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Project Context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Objective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Why predictive maintenance?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32A34"/>
                </a:solidFill>
                <a:latin typeface="Aptos"/>
              </a:defRPr>
            </a:pPr>
            <a:r>
              <a:t>The project proposes a shift from traditional time-based maintenance toward a data-driven predictive maintenance approach for mission-critical assets.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98448"/>
            <a:ext cx="5074920" cy="1325880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298448"/>
            <a:ext cx="73152" cy="1325880"/>
          </a:xfrm>
          <a:prstGeom prst="rect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463039"/>
            <a:ext cx="47091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Operational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92807"/>
            <a:ext cx="4709159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Unscheduled equipment breakdowns can increase downtime and affect operational readiness. The project targets earlier visibility into machine health and degradation.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632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063240"/>
            <a:ext cx="73152" cy="1920240"/>
          </a:xfrm>
          <a:prstGeom prst="rect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278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Workshop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306324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510 Army Base Workshop, Meerut supports repair and overhaul activities for military equipment. The report highlights the role of EME engineering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063240"/>
            <a:ext cx="3429000" cy="192024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3063240"/>
            <a:ext cx="73152" cy="192024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32278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Target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657600"/>
            <a:ext cx="306324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The prototype models multiple machinery profiles, including Pinaka_MBRL_1, Tactical_Veh_2 and Tatra_Engine_3.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3063240"/>
            <a:ext cx="3154680" cy="192024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3296" y="3063240"/>
            <a:ext cx="73152" cy="1920240"/>
          </a:xfrm>
          <a:prstGeom prst="rect">
            <a:avLst/>
          </a:prstGeom>
          <a:solidFill>
            <a:srgbClr val="E0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22783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Core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657600"/>
            <a:ext cx="27889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Estimate Remaining Useful Life (RUL), display health status, and raise maintenance alerts through a live 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1274A"/>
                </a:solidFill>
                <a:latin typeface="Aptos"/>
              </a:defRPr>
            </a:pPr>
            <a:r>
              <a:t>Project basis: real-time telemetry → reliable local storage → feature engineering → RUL inference → visual alerts.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Objective / Aim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1274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5819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1274A"/>
                </a:solidFill>
                <a:latin typeface="Aptos"/>
              </a:defRPr>
            </a:pPr>
            <a:r>
              <a:t>Capture machine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81912"/>
            <a:ext cx="6995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32A34"/>
                </a:solidFill>
                <a:latin typeface="Aptos"/>
              </a:defRPr>
            </a:pPr>
            <a:r>
              <a:t>Continuously ingest temperature, vibration, pressure and rotational-speed data.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651760"/>
            <a:ext cx="566928" cy="566928"/>
          </a:xfrm>
          <a:prstGeom prst="ellipse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33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1274A"/>
                </a:solidFill>
                <a:latin typeface="Aptos"/>
              </a:defRPr>
            </a:pPr>
            <a:r>
              <a:t>Build a decoupled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33472"/>
            <a:ext cx="6995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32A34"/>
                </a:solidFill>
                <a:latin typeface="Aptos"/>
              </a:defRPr>
            </a:pPr>
            <a:r>
              <a:t>Separate telemetry publishing, message brokering, ingestion, storage and analytics.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703320"/>
            <a:ext cx="566928" cy="566928"/>
          </a:xfrm>
          <a:prstGeom prst="ellipse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685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1274A"/>
                </a:solidFill>
                <a:latin typeface="Aptos"/>
              </a:defRPr>
            </a:pPr>
            <a:r>
              <a:t>Predict Remaining Useful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685032"/>
            <a:ext cx="6995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32A34"/>
                </a:solidFill>
                <a:latin typeface="Aptos"/>
              </a:defRPr>
            </a:pPr>
            <a:r>
              <a:t>Use current and rolling telemetry features to estimate RUL for the selected asset.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754879"/>
            <a:ext cx="566928" cy="566928"/>
          </a:xfrm>
          <a:prstGeom prst="ellipse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7365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1274A"/>
                </a:solidFill>
                <a:latin typeface="Aptos"/>
              </a:defRPr>
            </a:pPr>
            <a:r>
              <a:t>Provide actionable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736592"/>
            <a:ext cx="6995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32A34"/>
                </a:solidFill>
                <a:latin typeface="Aptos"/>
              </a:defRPr>
            </a:pPr>
            <a:r>
              <a:t>Classify the asset as nominal, warning or critical using RUL thresholds.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42432"/>
            <a:ext cx="10744200" cy="475488"/>
          </a:xfrm>
          <a:prstGeom prst="round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824728"/>
            <a:ext cx="10378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Problem Statement: improve maintenance visibility and reduce the risk of unscheduled breakdown downtime.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1274A"/>
                </a:solidFill>
                <a:latin typeface="Aptos Display"/>
              </a:defRPr>
            </a:pPr>
            <a:r>
              <a:t>Step-by-step development methodology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600200"/>
            <a:ext cx="502920" cy="502920"/>
          </a:xfrm>
          <a:prstGeom prst="ellipse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5819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Telemetry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0391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mqtt_publisher.py generates multi-machine sensor streams and degradation patterns.</a:t>
            </a:r>
          </a:p>
        </p:txBody>
      </p:sp>
      <p:sp>
        <p:nvSpPr>
          <p:cNvPr id="10" name="Oval 9"/>
          <p:cNvSpPr/>
          <p:nvPr/>
        </p:nvSpPr>
        <p:spPr>
          <a:xfrm>
            <a:off x="4453128" y="1600200"/>
            <a:ext cx="502920" cy="502920"/>
          </a:xfrm>
          <a:prstGeom prst="ellipse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496" y="15819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Message Brokering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20391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Eclipse Mosquitto routes MQTT messages asynchronously.</a:t>
            </a:r>
          </a:p>
        </p:txBody>
      </p:sp>
      <p:sp>
        <p:nvSpPr>
          <p:cNvPr id="13" name="Oval 12"/>
          <p:cNvSpPr/>
          <p:nvPr/>
        </p:nvSpPr>
        <p:spPr>
          <a:xfrm>
            <a:off x="8247888" y="1600200"/>
            <a:ext cx="502920" cy="502920"/>
          </a:xfrm>
          <a:prstGeom prst="ellipse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15819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20391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mqtt_subscriber.py validates JSON payloads and forwards telemetry to storage.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657600"/>
            <a:ext cx="502920" cy="502920"/>
          </a:xfrm>
          <a:prstGeom prst="ellipse">
            <a:avLst/>
          </a:prstGeom>
          <a:solidFill>
            <a:srgbClr val="E0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6393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0965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database_manager.py stores telemetry in SQLite with a unified schema.</a:t>
            </a:r>
          </a:p>
        </p:txBody>
      </p:sp>
      <p:sp>
        <p:nvSpPr>
          <p:cNvPr id="19" name="Oval 18"/>
          <p:cNvSpPr/>
          <p:nvPr/>
        </p:nvSpPr>
        <p:spPr>
          <a:xfrm>
            <a:off x="4453128" y="3657600"/>
            <a:ext cx="502920" cy="502920"/>
          </a:xfrm>
          <a:prstGeom prst="ellipse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36393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40965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Rolling temperature average and vibration standard deviation are calculated.</a:t>
            </a:r>
          </a:p>
        </p:txBody>
      </p:sp>
      <p:sp>
        <p:nvSpPr>
          <p:cNvPr id="22" name="Oval 21"/>
          <p:cNvSpPr/>
          <p:nvPr/>
        </p:nvSpPr>
        <p:spPr>
          <a:xfrm>
            <a:off x="8247888" y="3657600"/>
            <a:ext cx="502920" cy="502920"/>
          </a:xfrm>
          <a:prstGeom prst="ellipse">
            <a:avLst/>
          </a:prstGeom>
          <a:solidFill>
            <a:srgbClr val="2A8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6393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RUL &amp;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4096512"/>
            <a:ext cx="2907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A34"/>
                </a:solidFill>
                <a:latin typeface="Aptos"/>
              </a:defRPr>
            </a:pPr>
            <a:r>
              <a:t>app.py performs inference, shows RUL, status alerts and degradation trajectory.</a:t>
            </a:r>
          </a:p>
        </p:txBody>
      </p:sp>
      <p:sp>
        <p:nvSpPr>
          <p:cNvPr id="25" name="Chevron 24"/>
          <p:cNvSpPr/>
          <p:nvPr/>
        </p:nvSpPr>
        <p:spPr>
          <a:xfrm>
            <a:off x="4069080" y="1847088"/>
            <a:ext cx="320040" cy="411480"/>
          </a:xfrm>
          <a:prstGeom prst="chevron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>
            <a:off x="7863840" y="1847088"/>
            <a:ext cx="320040" cy="411480"/>
          </a:xfrm>
          <a:prstGeom prst="chevron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8984"/>
                </a:solidFill>
                <a:latin typeface="Aptos"/>
              </a:defRPr>
            </a:pPr>
            <a:r>
              <a:t>Approach: decoupled microservices pipeline with continuous streaming and live analytics.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Tools Used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Decoupled real-time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874519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74A"/>
                </a:solidFill>
                <a:latin typeface="Aptos"/>
              </a:defRPr>
            </a:pPr>
            <a:r>
              <a:t>Machine / Edge</a:t>
            </a:r>
            <a:br/>
            <a:r>
              <a:t>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74519"/>
            <a:ext cx="1874519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74A"/>
                </a:solidFill>
                <a:latin typeface="Aptos"/>
              </a:defRPr>
            </a:pPr>
            <a:r>
              <a:t>mqtt_publisher.py</a:t>
            </a:r>
            <a:br/>
            <a:r>
              <a:t>Edge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874519"/>
            <a:ext cx="1874519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9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74A"/>
                </a:solidFill>
                <a:latin typeface="Aptos"/>
              </a:defRPr>
            </a:pPr>
            <a:r>
              <a:t>Eclipse</a:t>
            </a:r>
            <a:br/>
            <a:r>
              <a:t>Mosquitto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74519"/>
            <a:ext cx="1874519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74A"/>
                </a:solidFill>
                <a:latin typeface="Aptos"/>
              </a:defRPr>
            </a:pPr>
            <a:r>
              <a:t>mqtt_subscriber.py</a:t>
            </a:r>
            <a:br/>
            <a:r>
              <a:t>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874519"/>
            <a:ext cx="1874519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74A"/>
                </a:solidFill>
                <a:latin typeface="Aptos"/>
              </a:defRPr>
            </a:pPr>
            <a:r>
              <a:t>SQLite</a:t>
            </a:r>
            <a:br/>
            <a:r>
              <a:t>telemetry.db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7168" y="2176272"/>
            <a:ext cx="301752" cy="347472"/>
          </a:xfrm>
          <a:prstGeom prst="right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4727448" y="2176272"/>
            <a:ext cx="301752" cy="347472"/>
          </a:xfrm>
          <a:prstGeom prst="right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6967728" y="2176272"/>
            <a:ext cx="301752" cy="347472"/>
          </a:xfrm>
          <a:prstGeom prst="right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9208008" y="2176272"/>
            <a:ext cx="301752" cy="347472"/>
          </a:xfrm>
          <a:prstGeom prst="right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74519" y="3886200"/>
            <a:ext cx="3383280" cy="132588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74519" y="3886200"/>
            <a:ext cx="73152" cy="1325880"/>
          </a:xfrm>
          <a:prstGeom prst="rect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84831" y="4050791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4480560"/>
            <a:ext cx="301752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Rolling 5-cycle temperature moving average + vibration moving standard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886200"/>
            <a:ext cx="3383280" cy="1325880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32120" y="3886200"/>
            <a:ext cx="73152" cy="1325880"/>
          </a:xfrm>
          <a:prstGeom prst="rect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RUL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4480560"/>
            <a:ext cx="301752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RUL prediction is generated from the selected asset's engineered telemetry features.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886200"/>
            <a:ext cx="2240280" cy="132588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3886200"/>
            <a:ext cx="73152" cy="132588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0032" y="4050791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4480560"/>
            <a:ext cx="187452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Live metrics, alerts and RUL trajectory.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257800" y="2971800"/>
            <a:ext cx="347472" cy="502920"/>
          </a:xfrm>
          <a:prstGeom prst="down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8915400" y="2971800"/>
            <a:ext cx="347472" cy="502920"/>
          </a:xfrm>
          <a:prstGeom prst="downArrow">
            <a:avLst/>
          </a:prstGeom>
          <a:solidFill>
            <a:srgbClr val="69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1274A"/>
                </a:solidFill>
                <a:latin typeface="Aptos"/>
              </a:defRPr>
            </a:pPr>
            <a:r>
              <a:t>Python • Paho MQTT • Eclipse Mosquitto • SQLite • Pandas • NumPy • Plotly • Streamlit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Tools, Technologies &amp;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73152" cy="1554480"/>
          </a:xfrm>
          <a:prstGeom prst="rect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4904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202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Core implementation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258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325880"/>
            <a:ext cx="73152" cy="155448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4904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Paho 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202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MQTT client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73152" cy="1554480"/>
          </a:xfrm>
          <a:prstGeom prst="rect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4904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Eclipse Mosquitto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202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Message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2" y="13258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25712" y="1325880"/>
            <a:ext cx="73152" cy="1554480"/>
          </a:xfrm>
          <a:prstGeom prst="rect">
            <a:avLst/>
          </a:prstGeom>
          <a:solidFill>
            <a:srgbClr val="2A8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4904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202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Local telemetry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3832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" y="3383280"/>
            <a:ext cx="73152" cy="1554480"/>
          </a:xfrm>
          <a:prstGeom prst="rect">
            <a:avLst/>
          </a:prstGeom>
          <a:solidFill>
            <a:srgbClr val="E0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Pandas / 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9776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Data processing &amp; feature 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33832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56432" y="3383280"/>
            <a:ext cx="73152" cy="1554480"/>
          </a:xfrm>
          <a:prstGeom prst="rect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66744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Plotly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6744" y="39776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Interactive RUL trajectory chart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33832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91072" y="3383280"/>
            <a:ext cx="73152" cy="1554480"/>
          </a:xfrm>
          <a:prstGeom prst="rect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01384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39776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Real-time analytical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25712" y="338328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25712" y="3383280"/>
            <a:ext cx="73152" cy="1554480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36024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NASA C-MAPSS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977640"/>
            <a:ext cx="2148840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Telemetry dataset benchmark referenced by the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577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74A"/>
                </a:solidFill>
                <a:latin typeface="Aptos"/>
              </a:defRPr>
            </a:pPr>
            <a:r>
              <a:t>Core project modules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559552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mqtt_publisher.py   |   mqtt_subscriber.py   |   database_manager.py   |   app.py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Database Layer &amp;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Implementation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Telemetry schema and processing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4983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73152" cy="4297680"/>
          </a:xfrm>
          <a:prstGeom prst="rect">
            <a:avLst/>
          </a:prstGeom>
          <a:solidFill>
            <a:srgbClr val="2A8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617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SQLite: telemetry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4617720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Primary key: id</a:t>
            </a:r>
            <a:br/>
            <a:r>
              <a:t>Unique key: (machine_id, cycle)</a:t>
            </a:r>
            <a:br/>
            <a:br/>
            <a:r>
              <a:t>Sensor fields:</a:t>
            </a:r>
            <a:br/>
            <a:r>
              <a:t>• temperature</a:t>
            </a:r>
            <a:br/>
            <a:r>
              <a:t>• vibration</a:t>
            </a:r>
            <a:br/>
            <a:r>
              <a:t>• pressure</a:t>
            </a:r>
            <a:br/>
            <a:r>
              <a:t>• rotational_speed</a:t>
            </a:r>
            <a:br/>
            <a:br/>
            <a:r>
              <a:t>Operational settings:</a:t>
            </a:r>
            <a:br/>
            <a:r>
              <a:t>• operational_setting_1</a:t>
            </a:r>
            <a:br/>
            <a:r>
              <a:t>• operational_setting_2</a:t>
            </a:r>
            <a:br/>
            <a:r>
              <a:t>• operational_setting_3</a:t>
            </a:r>
            <a:br/>
            <a:br/>
            <a:r>
              <a:t>Timestamp is stored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90472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Incoming JSON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75320" y="1984248"/>
            <a:ext cx="228600" cy="201168"/>
          </a:xfrm>
          <a:prstGeom prst="downArrow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2157984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0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Schema validation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275320" y="2651760"/>
            <a:ext cx="228600" cy="201168"/>
          </a:xfrm>
          <a:prstGeom prst="downArrow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2825496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A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SQLite write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275320" y="3319272"/>
            <a:ext cx="228600" cy="201168"/>
          </a:xfrm>
          <a:prstGeom prst="downArrow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6520" y="3493008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6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Latest records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275320" y="3986783"/>
            <a:ext cx="228600" cy="201168"/>
          </a:xfrm>
          <a:prstGeom prst="downArrow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46520" y="4160520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69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Rolling features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275320" y="4654296"/>
            <a:ext cx="228600" cy="201168"/>
          </a:xfrm>
          <a:prstGeom prst="downArrow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46520" y="4828031"/>
            <a:ext cx="4251960" cy="475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BE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RUL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650992"/>
            <a:ext cx="4251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97380"/>
                </a:solidFill>
                <a:latin typeface="Aptos"/>
              </a:defRPr>
            </a:pPr>
            <a:r>
              <a:t>Duplicate cycle keys are gracefully ignored during retransmission.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Real-Time ML Inference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User-facing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Live operational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6446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dictive_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81814"/>
            <a:ext cx="6144768" cy="29595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481328"/>
            <a:ext cx="4160520" cy="1115568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1481328"/>
            <a:ext cx="73152" cy="1115568"/>
          </a:xfrm>
          <a:prstGeom prst="rect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2" y="1645920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Live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2075688"/>
            <a:ext cx="3794759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Current operational cycle • instantaneous temperature • calculated RUL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770632"/>
            <a:ext cx="4160520" cy="1115568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60920" y="2770632"/>
            <a:ext cx="73152" cy="1115568"/>
          </a:xfrm>
          <a:prstGeom prst="rect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2" y="2935224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Alert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2" y="3364991"/>
            <a:ext cx="3794759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RUL &lt; 50 hrs → Critical</a:t>
            </a:r>
            <a:br/>
            <a:r>
              <a:t>RUL &lt; 100 hrs → Warning</a:t>
            </a:r>
            <a:br/>
            <a:r>
              <a:t>Otherwise → Nominal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059936"/>
            <a:ext cx="4160520" cy="1115568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4059936"/>
            <a:ext cx="73152" cy="1115568"/>
          </a:xfrm>
          <a:prstGeom prst="rect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2" y="4224528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274A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4654296"/>
            <a:ext cx="3794759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Interactive RUL degradation trajectory plotted against machine 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44068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1274A"/>
                </a:solidFill>
                <a:latin typeface="Aptos"/>
              </a:defRPr>
            </a:pPr>
            <a:r>
              <a:t>Dashboard refresh interval: 2 seconds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Results Obtained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Prototype outcomes achieved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508760"/>
            <a:ext cx="457200" cy="457200"/>
          </a:xfrm>
          <a:prstGeom prst="ellipse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9961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Real-time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99616"/>
            <a:ext cx="7589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MQTT telemetry is continuously published and consumed through the broker/subscriber pipeline.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350008"/>
            <a:ext cx="457200" cy="457200"/>
          </a:xfrm>
          <a:prstGeom prst="ellipse">
            <a:avLst/>
          </a:prstGeom>
          <a:solidFill>
            <a:srgbClr val="2A8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34086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Persistent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40864"/>
            <a:ext cx="7589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Incoming telemetry is written to the SQLite telemetry database for rolling analysis.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191256"/>
            <a:ext cx="457200" cy="457200"/>
          </a:xfrm>
          <a:prstGeom prst="ellipse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182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RUL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82112"/>
            <a:ext cx="7589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The dashboard calculates a predicted Remaining Useful Life value for the selected asset.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032504"/>
            <a:ext cx="457200" cy="457200"/>
          </a:xfrm>
          <a:prstGeom prst="ellipse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Health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60"/>
            <a:ext cx="7589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Nominal, warning and critical states are displayed according to RUL thresholds.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2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8646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1274A"/>
                </a:solidFill>
                <a:latin typeface="Aptos"/>
              </a:defRPr>
            </a:pPr>
            <a:r>
              <a:t>Interactive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64608"/>
            <a:ext cx="7589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  <a:latin typeface="Aptos"/>
              </a:defRPr>
            </a:pPr>
            <a:r>
              <a:t>Users can select assets and view live metrics plus an RUL degradation trajectory.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760720"/>
            <a:ext cx="9921240" cy="438912"/>
          </a:xfrm>
          <a:prstGeom prst="roundRect">
            <a:avLst/>
          </a:prstGeom>
          <a:solidFill>
            <a:srgbClr val="E8F0F9"/>
          </a:solidFill>
          <a:ln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5833872"/>
            <a:ext cx="9646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1274A"/>
                </a:solidFill>
                <a:latin typeface="Aptos"/>
              </a:defRPr>
            </a:pPr>
            <a:r>
              <a:t>The report demonstrates functional pipeline outputs; it does not provide a measured model-accuracy percentage.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Benefits / Advantages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Key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Earlier visibility into asset degradation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Data-driven maintenance decision support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Reduced dependence on purely time-based maintenance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Centralized telemetry and analytics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Modular architecture that can be extended to additional workshop divisions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Potential to reduce unscheduled downtime and strengthen operational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9144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9" name="Oval 8"/>
          <p:cNvSpPr/>
          <p:nvPr/>
        </p:nvSpPr>
        <p:spPr>
          <a:xfrm>
            <a:off x="6327648" y="1572768"/>
            <a:ext cx="438912" cy="438912"/>
          </a:xfrm>
          <a:prstGeom prst="ellipse">
            <a:avLst/>
          </a:prstGeom>
          <a:solidFill>
            <a:srgbClr val="16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63624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A34"/>
                </a:solidFill>
                <a:latin typeface="Aptos"/>
              </a:defRPr>
            </a:pPr>
            <a:r>
              <a:t>Raspberry Pi / Arduino edge hardware for real sensor acquisition</a:t>
            </a:r>
          </a:p>
        </p:txBody>
      </p:sp>
      <p:sp>
        <p:nvSpPr>
          <p:cNvPr id="11" name="Oval 10"/>
          <p:cNvSpPr/>
          <p:nvPr/>
        </p:nvSpPr>
        <p:spPr>
          <a:xfrm>
            <a:off x="6327648" y="2505456"/>
            <a:ext cx="438912" cy="438912"/>
          </a:xfrm>
          <a:prstGeom prst="ellipse">
            <a:avLst/>
          </a:prstGeom>
          <a:solidFill>
            <a:srgbClr val="69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96312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A34"/>
                </a:solidFill>
                <a:latin typeface="Aptos"/>
              </a:defRPr>
            </a:pPr>
            <a:r>
              <a:t>Acoustic-emission data from workshop engine testbeds</a:t>
            </a:r>
          </a:p>
        </p:txBody>
      </p:sp>
      <p:sp>
        <p:nvSpPr>
          <p:cNvPr id="13" name="Oval 12"/>
          <p:cNvSpPr/>
          <p:nvPr/>
        </p:nvSpPr>
        <p:spPr>
          <a:xfrm>
            <a:off x="6327648" y="3438144"/>
            <a:ext cx="438912" cy="438912"/>
          </a:xfrm>
          <a:prstGeom prst="ellipse">
            <a:avLst/>
          </a:prstGeom>
          <a:solidFill>
            <a:srgbClr val="E0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29000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A34"/>
                </a:solidFill>
                <a:latin typeface="Aptos"/>
              </a:defRPr>
            </a:pPr>
            <a:r>
              <a:t>LSTM neural networks for long-term degradation trends</a:t>
            </a:r>
          </a:p>
        </p:txBody>
      </p:sp>
      <p:sp>
        <p:nvSpPr>
          <p:cNvPr id="15" name="Oval 14"/>
          <p:cNvSpPr/>
          <p:nvPr/>
        </p:nvSpPr>
        <p:spPr>
          <a:xfrm>
            <a:off x="6327648" y="4370832"/>
            <a:ext cx="438912" cy="438912"/>
          </a:xfrm>
          <a:prstGeom prst="ellipse">
            <a:avLst/>
          </a:prstGeom>
          <a:solidFill>
            <a:srgbClr val="BE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361688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A34"/>
                </a:solidFill>
                <a:latin typeface="Aptos"/>
              </a:defRPr>
            </a:pPr>
            <a:r>
              <a:t>TLS client-certificate verification for MQTT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Screenshots / Project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  <a:latin typeface="Aptos"/>
              </a:defRPr>
            </a:pPr>
            <a:r>
              <a:t>Mandatory Point 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1274A"/>
                </a:solidFill>
                <a:latin typeface="Aptos Display"/>
              </a:defRPr>
            </a:pPr>
            <a:r>
              <a:t>Evidence from the project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6812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dictive_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7824"/>
            <a:ext cx="6492239" cy="31269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138928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97380"/>
                </a:solidFill>
                <a:latin typeface="Aptos"/>
              </a:defRPr>
            </a:pPr>
            <a:r>
              <a:t>Real-time Streamlit dashboard showing machine health and predicted RUL.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481328"/>
            <a:ext cx="3822191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roject_cod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818" y="1664208"/>
            <a:ext cx="315305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82127" y="5138928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97380"/>
                </a:solidFill>
                <a:latin typeface="Aptos"/>
              </a:defRPr>
            </a:pPr>
            <a:r>
              <a:t>Implementation evidence from app.py / dashboard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1274A"/>
                </a:solidFill>
                <a:latin typeface="Aptos"/>
              </a:defRPr>
            </a:pPr>
            <a:r>
              <a:t>Screenshots reproduced from the submitted project report.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E2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80"/>
                </a:solidFill>
                <a:latin typeface="Aptos"/>
              </a:defRPr>
            </a:pPr>
            <a:r>
              <a:t>510 Army Base Workshop, Meerut Cantt  |  Vocational Training Project  |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515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E2EAF6"/>
                </a:solidFill>
                <a:latin typeface="Aptos"/>
              </a:defRPr>
            </a:pPr>
            <a:r>
              <a:t>The project demonstrates a modular predictive-maintenance prototype that connects machine telemetry, MQTT messaging, local persistence, feature engineering, RUL inference and a live analytical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FD8EB"/>
                </a:solidFill>
                <a:latin typeface="Aptos"/>
              </a:defRPr>
            </a:pPr>
            <a:r>
              <a:t>By moving toward data-driven maintenance, the solution provides a foundation for earlier maintenance decisions and stronger operational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A6DAD7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1996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AB9CD"/>
                </a:solidFill>
                <a:latin typeface="Aptos"/>
              </a:defRPr>
            </a:pPr>
            <a:r>
              <a:t>Nandini • Suhani Goel • Vinit Kumar • Priyanshu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1211</Words>
  <Application>Microsoft Office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priyanshu thakur</cp:lastModifiedBy>
  <cp:revision>3</cp:revision>
  <dcterms:created xsi:type="dcterms:W3CDTF">2013-01-27T09:14:16Z</dcterms:created>
  <dcterms:modified xsi:type="dcterms:W3CDTF">2026-08-25T10:39:49Z</dcterms:modified>
  <cp:category/>
</cp:coreProperties>
</file>